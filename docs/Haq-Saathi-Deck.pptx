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32bcc5d-b7f5-29a2-0217-b3df77936a7d}">
          <p14:sldIdLst>
            <p14:sldId id="256"/>
          </p14:sldIdLst>
        </p14:section>
        <p14:section name="Problem and user" id="{a5561e2d-d0a9-43f5-cf16-beb0a6ec289d}">
          <p14:sldIdLst>
            <p14:sldId id="257"/>
          </p14:sldIdLst>
        </p14:section>
        <p14:section name="Solution" id="{0f508947-4357-e475-ee4c-8b80e6265c26}">
          <p14:sldIdLst>
            <p14:sldId id="258"/>
          </p14:sldIdLst>
        </p14:section>
        <p14:section name="Journey" id="{1d38f185-5fc8-7a2f-8cc6-3363a98bc6a6}">
          <p14:sldIdLst>
            <p14:sldId id="259"/>
          </p14:sldIdLst>
        </p14:section>
        <p14:section name="Technology" id="{41791d57-c3bb-f63f-b9c7-dff13c22a123}">
          <p14:sldIdLst>
            <p14:sldId id="260"/>
          </p14:sldIdLst>
        </p14:section>
        <p14:section name="Trust" id="{d669427e-dd0f-a3cf-9388-0eaff36a5a87}">
          <p14:sldIdLst>
            <p14:sldId id="261"/>
          </p14:sldIdLst>
        </p14:section>
        <p14:section name="Impact" id="{3a8b32bf-9503-c9c9-0cf6-68fadd7f7a64}">
          <p14:sldIdLst>
            <p14:sldId id="262"/>
          </p14:sldIdLst>
        </p14:section>
        <p14:section name="Roadmap" id="{1821a83c-450f-a429-be2d-b478b07de07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DC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HACKATHON  ·  TRACK B: INVESTOR AWARENESS, RIGHTS &amp; GRIEVANCE REDRESSAL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Haq Saathi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हक़ साथी  ·  Investor rights, made usable. By voice, in your language, on any phone.</a:t>
            </a:r>
            <a:endParaRPr lang="en-US" sz="2000" dirty="0"/>
          </a:p>
        </p:txBody>
      </p:sp>
      <p:sp>
        <p:nvSpPr>
          <p:cNvPr id="5" name="stat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880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in 10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equity F&amp;O traders make net losses (SEBI)</a:t>
            </a:r>
            <a:endParaRPr lang="en-US" sz="1400" dirty="0"/>
          </a:p>
        </p:txBody>
      </p:sp>
      <p:sp>
        <p:nvSpPr>
          <p:cNvPr id="8" name="stat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2880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crore+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accounts; over 70% of new retail accounts come from Tier-2 and Tier-3 cities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DC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Meet Sarita, 66, a widow in a small town</a:t>
            </a:r>
            <a:endParaRPr lang="en-US" sz="3000" dirty="0"/>
          </a:p>
        </p:txBody>
      </p:sp>
      <p:sp>
        <p:nvSpPr>
          <p:cNvPr id="3" name="persona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31520" y="15087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Sarita Devi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Hindi-first, low-end phone, son works in another city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husband held shares, mutual funds and bank deposits. Nobody told her where, or whether a nominee exists. Within days, "recovery agents" start calling.</a:t>
            </a:r>
            <a:endParaRPr lang="en-US" sz="1600" dirty="0"/>
          </a:p>
        </p:txBody>
      </p:sp>
      <p:sp>
        <p:nvSpPr>
          <p:cNvPr id="9" name="need"/>
          <p:cNvSpPr/>
          <p:nvPr/>
        </p:nvSpPr>
        <p:spPr>
          <a:xfrm>
            <a:off x="4663440" y="1234440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Speak, do not read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1719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icon-led screens in her language</a:t>
            </a:r>
            <a:endParaRPr lang="en-US" sz="1400" dirty="0"/>
          </a:p>
        </p:txBody>
      </p:sp>
      <p:sp>
        <p:nvSpPr>
          <p:cNvPr id="14" name="need"/>
          <p:cNvSpPr/>
          <p:nvPr/>
        </p:nvSpPr>
        <p:spPr>
          <a:xfrm>
            <a:off x="4663440" y="2359152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first step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8437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the order of steps, not jargon</a:t>
            </a:r>
            <a:endParaRPr lang="en-US" sz="1400" dirty="0"/>
          </a:p>
        </p:txBody>
      </p:sp>
      <p:sp>
        <p:nvSpPr>
          <p:cNvPr id="19" name="need"/>
          <p:cNvSpPr/>
          <p:nvPr/>
        </p:nvSpPr>
        <p:spPr>
          <a:xfrm>
            <a:off x="4663440" y="3483864"/>
            <a:ext cx="4023360" cy="978408"/>
          </a:xfrm>
          <a:prstGeom prst="roundRect">
            <a:avLst>
              <a:gd name="adj" fmla="val 1121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4846320" y="371246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621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from fake agents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9684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fraud preys on bereaved families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voice-first companion, four protections</a:t>
            </a:r>
            <a:endParaRPr lang="en-US" sz="3000" dirty="0"/>
          </a:p>
        </p:txBody>
      </p:sp>
      <p:sp>
        <p:nvSpPr>
          <p:cNvPr id="3" name="module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Shield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562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message or call script. On-device rules flag fees, OTP asks, fake tips and recovery agents, with reasons.</a:t>
            </a:r>
            <a:endParaRPr lang="en-US" sz="1400" dirty="0"/>
          </a:p>
        </p:txBody>
      </p:sp>
      <p:sp>
        <p:nvSpPr>
          <p:cNvPr id="8" name="module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claim guide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5623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ordered steps to trace and claim shares, funds, bank money and unclaimed dividends.</a:t>
            </a:r>
            <a:endParaRPr lang="en-US" sz="1400" dirty="0"/>
          </a:p>
        </p:txBody>
      </p:sp>
      <p:sp>
        <p:nvSpPr>
          <p:cNvPr id="13" name="module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assistant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021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become a structured draft, plus the path: entity, SCORES, Smart ODR.</a:t>
            </a:r>
            <a:endParaRPr lang="en-US" sz="1400" dirty="0"/>
          </a:p>
        </p:txBody>
      </p:sp>
      <p:sp>
        <p:nvSpPr>
          <p:cNvPr id="18" name="module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8920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tracker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50215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status per account type, kept on the phone, with a protection score.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Sarita's journey, end to end</a:t>
            </a:r>
            <a:endParaRPr lang="en-US" sz="3000" dirty="0"/>
          </a:p>
        </p:txBody>
      </p:sp>
      <p:sp>
        <p:nvSpPr>
          <p:cNvPr id="3" name="step"/>
          <p:cNvSpPr/>
          <p:nvPr/>
        </p:nvSpPr>
        <p:spPr>
          <a:xfrm>
            <a:off x="457200" y="123444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932688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asks in Hindi what to do after her husband's death</a:t>
            </a:r>
            <a:endParaRPr lang="en-US" sz="1400" dirty="0"/>
          </a:p>
        </p:txBody>
      </p:sp>
      <p:sp>
        <p:nvSpPr>
          <p:cNvPr id="8" name="step"/>
          <p:cNvSpPr/>
          <p:nvPr/>
        </p:nvSpPr>
        <p:spPr>
          <a:xfrm>
            <a:off x="2139696" y="123444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615184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4688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which assets, is there a nominee</a:t>
            </a:r>
            <a:endParaRPr lang="en-US" sz="1400" dirty="0"/>
          </a:p>
        </p:txBody>
      </p:sp>
      <p:sp>
        <p:nvSpPr>
          <p:cNvPr id="13" name="step"/>
          <p:cNvSpPr/>
          <p:nvPr/>
        </p:nvSpPr>
        <p:spPr>
          <a:xfrm>
            <a:off x="3822192" y="123444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4688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 and ordered steps</a:t>
            </a:r>
            <a:endParaRPr lang="en-US" sz="1400" dirty="0"/>
          </a:p>
        </p:txBody>
      </p:sp>
      <p:sp>
        <p:nvSpPr>
          <p:cNvPr id="18" name="step"/>
          <p:cNvSpPr/>
          <p:nvPr/>
        </p:nvSpPr>
        <p:spPr>
          <a:xfrm>
            <a:off x="5504688" y="123444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980176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01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14416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24688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it to her son on WhatsApp</a:t>
            </a:r>
            <a:endParaRPr lang="en-US" sz="1400" dirty="0"/>
          </a:p>
        </p:txBody>
      </p:sp>
      <p:sp>
        <p:nvSpPr>
          <p:cNvPr id="23" name="step"/>
          <p:cNvSpPr/>
          <p:nvPr/>
        </p:nvSpPr>
        <p:spPr>
          <a:xfrm>
            <a:off x="7187184" y="123444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662672" y="1417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626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46888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"recovery agent" texts. Scam Shield says: do not pay, call 1930</a:t>
            </a:r>
            <a:endParaRPr lang="en-US" sz="1400" dirty="0"/>
          </a:p>
        </p:txBody>
      </p:sp>
      <p:sp>
        <p:nvSpPr>
          <p:cNvPr id="28" name="outcome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she knows what to gather, whom to approach, and does not pay a fake agent.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where it earns its place</a:t>
            </a:r>
            <a:endParaRPr lang="en-US" sz="3000" dirty="0"/>
          </a:p>
        </p:txBody>
      </p:sp>
      <p:sp>
        <p:nvSpPr>
          <p:cNvPr id="3" name="row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hip"/>
          <p:cNvSpPr/>
          <p:nvPr/>
        </p:nvSpPr>
        <p:spPr>
          <a:xfrm>
            <a:off x="548640" y="1280160"/>
            <a:ext cx="155448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188720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Hindi-first PWA, voice in and out (Web Speech now, Bhashini next), works offline</a:t>
            </a:r>
            <a:endParaRPr lang="en-US" sz="1400" dirty="0"/>
          </a:p>
        </p:txBody>
      </p:sp>
      <p:sp>
        <p:nvSpPr>
          <p:cNvPr id="7" name="row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548640" y="1956816"/>
            <a:ext cx="155448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5681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865376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 trees for claim steps, complaint paths and scam flags</a:t>
            </a:r>
            <a:endParaRPr lang="en-US" sz="1400" dirty="0"/>
          </a:p>
        </p:txBody>
      </p:sp>
      <p:sp>
        <p:nvSpPr>
          <p:cNvPr id="11" name="row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hip"/>
          <p:cNvSpPr/>
          <p:nvPr/>
        </p:nvSpPr>
        <p:spPr>
          <a:xfrm>
            <a:off x="548640" y="2633472"/>
            <a:ext cx="155448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33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layer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542032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 now; cited retrieval over SEBI circulars next, never generated advice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chip"/>
          <p:cNvSpPr/>
          <p:nvPr/>
        </p:nvSpPr>
        <p:spPr>
          <a:xfrm>
            <a:off x="548640" y="3310128"/>
            <a:ext cx="155448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101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218688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only: no PAN, account numbers, SMS or OTP; scam text is never stored</a:t>
            </a:r>
            <a:endParaRPr lang="en-US" sz="1400" dirty="0"/>
          </a:p>
        </p:txBody>
      </p:sp>
      <p:sp>
        <p:nvSpPr>
          <p:cNvPr id="19" name="row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ip"/>
          <p:cNvSpPr/>
          <p:nvPr/>
        </p:nvSpPr>
        <p:spPr>
          <a:xfrm>
            <a:off x="548640" y="3986784"/>
            <a:ext cx="1554480" cy="402336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8678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895344"/>
            <a:ext cx="6309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files, service worker, CI tests, GitHub Pages, MIT licence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Guardrails built in, not bolted on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457200" y="1234440"/>
            <a:ext cx="2743200" cy="329184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trackers, ads, accounts or personal records collected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tests run in CI on every push</a:t>
            </a:r>
            <a:endParaRPr lang="en-US" sz="1400" dirty="0"/>
          </a:p>
        </p:txBody>
      </p:sp>
      <p:sp>
        <p:nvSpPr>
          <p:cNvPr id="7" name="guard"/>
          <p:cNvSpPr/>
          <p:nvPr/>
        </p:nvSpPr>
        <p:spPr>
          <a:xfrm>
            <a:off x="3429000" y="123444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3990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layer blocks tips and buy/sell questions and explains why</a:t>
            </a:r>
            <a:endParaRPr lang="en-US" sz="1400" dirty="0"/>
          </a:p>
        </p:txBody>
      </p:sp>
      <p:sp>
        <p:nvSpPr>
          <p:cNvPr id="10" name="guard"/>
          <p:cNvSpPr/>
          <p:nvPr/>
        </p:nvSpPr>
        <p:spPr>
          <a:xfrm>
            <a:off x="6126480" y="123444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3990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device; only nominee yes/no is stored</a:t>
            </a:r>
            <a:endParaRPr lang="en-US" sz="1400" dirty="0"/>
          </a:p>
        </p:txBody>
      </p:sp>
      <p:sp>
        <p:nvSpPr>
          <p:cNvPr id="13" name="guard"/>
          <p:cNvSpPr/>
          <p:nvPr/>
        </p:nvSpPr>
        <p:spPr>
          <a:xfrm>
            <a:off x="3429000" y="292608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3090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4930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shows its source; Scam Shield says it can miss scams</a:t>
            </a:r>
            <a:endParaRPr lang="en-US" sz="1400" dirty="0"/>
          </a:p>
        </p:txBody>
      </p:sp>
      <p:sp>
        <p:nvSpPr>
          <p:cNvPr id="16" name="guard"/>
          <p:cNvSpPr/>
          <p:nvPr/>
        </p:nvSpPr>
        <p:spPr>
          <a:xfrm>
            <a:off x="6126480" y="2926080"/>
            <a:ext cx="25146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090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shield everywhere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49300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Fee, OTP and PIN requests are flagged as fraud on every flow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we will measure resilience</a:t>
            </a:r>
            <a:endParaRPr lang="en-US" sz="3000" dirty="0"/>
          </a:p>
        </p:txBody>
      </p:sp>
      <p:sp>
        <p:nvSpPr>
          <p:cNvPr id="3" name="metric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2801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warnings acted 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188720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stop before paying or sharing an OTP</a:t>
            </a:r>
            <a:endParaRPr lang="en-US" sz="1400" dirty="0"/>
          </a:p>
        </p:txBody>
      </p:sp>
      <p:sp>
        <p:nvSpPr>
          <p:cNvPr id="8" name="metric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594360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6537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 gaps closed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865376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moved from missing to added</a:t>
            </a:r>
            <a:endParaRPr lang="en-US" sz="1400" dirty="0"/>
          </a:p>
        </p:txBody>
      </p:sp>
      <p:sp>
        <p:nvSpPr>
          <p:cNvPr id="13" name="metric"/>
          <p:cNvSpPr/>
          <p:nvPr/>
        </p:nvSpPr>
        <p:spPr>
          <a:xfrm>
            <a:off x="457200" y="2542032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594360" y="263347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4203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Claim-readiness score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54203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required documents in hand</a:t>
            </a:r>
            <a:endParaRPr lang="en-US" sz="1400" dirty="0"/>
          </a:p>
        </p:txBody>
      </p:sp>
      <p:sp>
        <p:nvSpPr>
          <p:cNvPr id="18" name="metric"/>
          <p:cNvSpPr/>
          <p:nvPr/>
        </p:nvSpPr>
        <p:spPr>
          <a:xfrm>
            <a:off x="457200" y="3218688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94360" y="33101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1868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correct step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218688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opening the app to the right institution and form</a:t>
            </a:r>
            <a:endParaRPr lang="en-US" sz="1400" dirty="0"/>
          </a:p>
        </p:txBody>
      </p:sp>
      <p:sp>
        <p:nvSpPr>
          <p:cNvPr id="23" name="metric"/>
          <p:cNvSpPr/>
          <p:nvPr/>
        </p:nvSpPr>
        <p:spPr>
          <a:xfrm>
            <a:off x="457200" y="3895344"/>
            <a:ext cx="8229600" cy="585216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594360" y="398678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895344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completed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895344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finished and taken to the entity or SCORES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F62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hackathon to real-world tool</a:t>
            </a:r>
            <a:endParaRPr lang="en-US" sz="3000" dirty="0"/>
          </a:p>
        </p:txBody>
      </p:sp>
      <p:sp>
        <p:nvSpPr>
          <p:cNvPr id="3" name="phase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English; four modules; voice in and out; offline PWA; on-device storage; tested guardrails</a:t>
            </a:r>
            <a:endParaRPr lang="en-US" sz="1400" dirty="0"/>
          </a:p>
        </p:txBody>
      </p:sp>
      <p:sp>
        <p:nvSpPr>
          <p:cNvPr id="7" name="phase"/>
          <p:cNvSpPr/>
          <p:nvPr/>
        </p:nvSpPr>
        <p:spPr>
          <a:xfrm>
            <a:off x="329184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reach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via Bhashini; cited answers from SEBI circulars; deep links to SCORES and IEPF</a:t>
            </a:r>
            <a:endParaRPr lang="en-US" sz="1400" dirty="0"/>
          </a:p>
        </p:txBody>
      </p:sp>
      <p:sp>
        <p:nvSpPr>
          <p:cNvPr id="11" name="phase"/>
          <p:cNvSpPr/>
          <p:nvPr/>
        </p:nvSpPr>
        <p:spPr>
          <a:xfrm>
            <a:off x="612648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3774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associations and senior-citizen programmes; open-source for any institution to extend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Public-good infrastructure: non-commercial, open source, privacy-first.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DC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q Saathi">
  <a:themeElements>
    <a:clrScheme name="Haq Saathi">
      <a:dk1>
        <a:srgbClr val="15302F"/>
      </a:dk1>
      <a:lt1>
        <a:srgbClr val="FFFFFF"/>
      </a:lt1>
      <a:dk2>
        <a:srgbClr val="0F5C5C"/>
      </a:dk2>
      <a:lt2>
        <a:srgbClr val="F4F8F5"/>
      </a:lt2>
      <a:accent1>
        <a:srgbClr val="0F5C5C"/>
      </a:accent1>
      <a:accent2>
        <a:srgbClr val="F2B01E"/>
      </a:accent2>
      <a:accent3>
        <a:srgbClr val="A8231B"/>
      </a:accent3>
      <a:accent4>
        <a:srgbClr val="5FC4B8"/>
      </a:accent4>
      <a:accent5>
        <a:srgbClr val="4F625F"/>
      </a:accent5>
      <a:accent6>
        <a:srgbClr val="CFDCD5"/>
      </a:accent6>
      <a:hlink>
        <a:srgbClr val="0F5C5C"/>
      </a:hlink>
      <a:folHlink>
        <a:srgbClr val="4F625F"/>
      </a:folHlink>
    </a:clrScheme>
    <a:fontScheme name="Haq Saath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Haq Saathi: investor rights, made usable</dc:title>
  <dc:subject>PptxGenJS Presentation</dc:subject>
  <dc:creator>PptxGenJS</dc:creator>
  <cp:lastModifiedBy>PptxGenJS</cp:lastModifiedBy>
  <cp:revision>1</cp:revision>
  <dcterms:created xsi:type="dcterms:W3CDTF">2026-10-04T09:38:54Z</dcterms:created>
  <dcterms:modified xsi:type="dcterms:W3CDTF">2026-10-04T09:38:54Z</dcterms:modified>
</cp:coreProperties>
</file>